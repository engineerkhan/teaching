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1pPr>
    <a:lvl2pPr marL="0" marR="0" indent="457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2pPr>
    <a:lvl3pPr marL="0" marR="0" indent="914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3pPr>
    <a:lvl4pPr marL="0" marR="0" indent="1371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4pPr>
    <a:lvl5pPr marL="0" marR="0" indent="18288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5pPr>
    <a:lvl6pPr marL="0" marR="0" indent="22860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6pPr>
    <a:lvl7pPr marL="0" marR="0" indent="2743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7pPr>
    <a:lvl8pPr marL="0" marR="0" indent="3200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8pPr>
    <a:lvl9pPr marL="0" marR="0" indent="3657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-357243"/>
              <a:satOff val="7293"/>
              <a:lumOff val="8906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3">
              <a:satOff val="1412"/>
              <a:lumOff val="16412"/>
            </a:schemeClr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>
                  <a:satOff val="1412"/>
                  <a:lumOff val="16412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6E937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FFF171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A51B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E1A84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103425"/>
              <a:satOff val="-7243"/>
              <a:lumOff val="9921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chemeClr val="accent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lumOff val="-14283"/>
            </a:schemeClr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5">
                  <a:lumOff val="-1428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satOff val="-6299"/>
              <a:lumOff val="-32309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5D5D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6500" y="12268950"/>
            <a:ext cx="21971000" cy="660401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Body Level One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Presentation Title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xfrm>
            <a:off x="23558499" y="1246072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urved, white arches on a grey reflective floor"/>
          <p:cNvSpPr/>
          <p:nvPr>
            <p:ph type="pic" idx="21"/>
          </p:nvPr>
        </p:nvSpPr>
        <p:spPr>
          <a:xfrm>
            <a:off x="-76200" y="-558800"/>
            <a:ext cx="24574500" cy="1483951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Author and Date"/>
          <p:cNvSpPr txBox="1"/>
          <p:nvPr>
            <p:ph type="body" sz="quarter" idx="22" hasCustomPrompt="1"/>
          </p:nvPr>
        </p:nvSpPr>
        <p:spPr>
          <a:xfrm>
            <a:off x="1206500" y="12268200"/>
            <a:ext cx="21971000" cy="660400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Presentation Title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Low angle view of a tall building with mirrored glass windows"/>
          <p:cNvSpPr/>
          <p:nvPr>
            <p:ph type="pic" idx="21"/>
          </p:nvPr>
        </p:nvSpPr>
        <p:spPr>
          <a:xfrm>
            <a:off x="8140700" y="-1"/>
            <a:ext cx="20574000" cy="13716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3335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150100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43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artial view of a ceiling with wood panelling"/>
          <p:cNvSpPr/>
          <p:nvPr>
            <p:ph type="pic" idx="21"/>
          </p:nvPr>
        </p:nvSpPr>
        <p:spPr>
          <a:xfrm>
            <a:off x="9588500" y="-482600"/>
            <a:ext cx="21513800" cy="1430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Slide Subtitle"/>
          <p:cNvSpPr txBox="1"/>
          <p:nvPr>
            <p:ph type="body" sz="quarter" idx="22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62" name="Slide Title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Slide Title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39116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pc="-119" sz="12000"/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100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Agenda Subtitle</a:t>
            </a:r>
          </a:p>
        </p:txBody>
      </p:sp>
      <p:sp>
        <p:nvSpPr>
          <p:cNvPr id="109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6000"/>
              </a:spcBef>
              <a:buSzTx/>
              <a:buNone/>
              <a:defRPr sz="5000"/>
            </a:lvl1pPr>
            <a:lvl2pPr marL="0" indent="457200">
              <a:spcBef>
                <a:spcPts val="6000"/>
              </a:spcBef>
              <a:buSzTx/>
              <a:buNone/>
              <a:defRPr sz="5000"/>
            </a:lvl2pPr>
            <a:lvl3pPr marL="0" indent="914400">
              <a:spcBef>
                <a:spcPts val="6000"/>
              </a:spcBef>
              <a:buSzTx/>
              <a:buNone/>
              <a:defRPr sz="5000"/>
            </a:lvl3pPr>
            <a:lvl4pPr marL="0" indent="1371600">
              <a:spcBef>
                <a:spcPts val="6000"/>
              </a:spcBef>
              <a:buSzTx/>
              <a:buNone/>
              <a:defRPr sz="5000"/>
            </a:lvl4pPr>
            <a:lvl5pPr marL="0" indent="1828800">
              <a:spcBef>
                <a:spcPts val="6000"/>
              </a:spcBef>
              <a:buSzTx/>
              <a:buNone/>
              <a:defRPr sz="50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Agenda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191000"/>
            <a:ext cx="21971000" cy="40894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206500"/>
            <a:ext cx="21971000" cy="7353300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128000"/>
            <a:ext cx="21971000" cy="1079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90000"/>
              </a:lnSpc>
              <a:spcBef>
                <a:spcPts val="0"/>
              </a:spcBef>
              <a:buSzTx/>
              <a:buNone/>
              <a:defRPr spc="-55"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5461000" y="9563100"/>
            <a:ext cx="13728700" cy="698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36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quarter" idx="1" hasCustomPrompt="1"/>
          </p:nvPr>
        </p:nvSpPr>
        <p:spPr>
          <a:xfrm>
            <a:off x="5194300" y="4165600"/>
            <a:ext cx="13995400" cy="4432300"/>
          </a:xfrm>
          <a:prstGeom prst="rect">
            <a:avLst/>
          </a:prstGeom>
        </p:spPr>
        <p:txBody>
          <a:bodyPr anchor="b"/>
          <a:lstStyle>
            <a:lvl1pPr marL="254000" indent="-2540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1pPr>
            <a:lvl2pPr marL="254000" indent="2032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2pPr>
            <a:lvl3pPr marL="254000" indent="6604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3pPr>
            <a:lvl4pPr marL="254000" indent="11176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4pPr>
            <a:lvl5pPr marL="254000" indent="15748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orridor of an open-air stone building under a pink and purple sky"/>
          <p:cNvSpPr/>
          <p:nvPr>
            <p:ph type="pic" sz="quarter" idx="21"/>
          </p:nvPr>
        </p:nvSpPr>
        <p:spPr>
          <a:xfrm>
            <a:off x="1257300" y="3213100"/>
            <a:ext cx="7289800" cy="7289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lack and white close-up of a curved roof"/>
          <p:cNvSpPr/>
          <p:nvPr>
            <p:ph type="pic" sz="half" idx="22"/>
          </p:nvPr>
        </p:nvSpPr>
        <p:spPr>
          <a:xfrm>
            <a:off x="6577500" y="3632200"/>
            <a:ext cx="11228999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Low angle view of a metal spiral staircase"/>
          <p:cNvSpPr/>
          <p:nvPr>
            <p:ph type="pic" sz="quarter" idx="23"/>
          </p:nvPr>
        </p:nvSpPr>
        <p:spPr>
          <a:xfrm>
            <a:off x="14643100" y="3632200"/>
            <a:ext cx="9677400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Futuristic, white corridor with shadows"/>
          <p:cNvSpPr/>
          <p:nvPr>
            <p:ph type="pic" idx="21"/>
          </p:nvPr>
        </p:nvSpPr>
        <p:spPr>
          <a:xfrm>
            <a:off x="-38100" y="-520700"/>
            <a:ext cx="24447500" cy="1476331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635000"/>
            <a:ext cx="21971000" cy="168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23558499" y="12458699"/>
            <a:ext cx="388621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r" defTabSz="584200">
              <a:spcBef>
                <a:spcPts val="0"/>
              </a:spcBef>
              <a:defRPr sz="2000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transition xmlns:p14="http://schemas.microsoft.com/office/powerpoint/2010/main" spd="med" advClick="1"/>
  <p:txStyles>
    <p:titleStyle>
      <a:lvl1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1pPr>
      <a:lvl2pPr marL="0" marR="0" indent="457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2pPr>
      <a:lvl3pPr marL="0" marR="0" indent="914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3pPr>
      <a:lvl4pPr marL="0" marR="0" indent="1371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4pPr>
      <a:lvl5pPr marL="0" marR="0" indent="18288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5pPr>
      <a:lvl6pPr marL="0" marR="0" indent="22860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6pPr>
      <a:lvl7pPr marL="0" marR="0" indent="2743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7pPr>
      <a:lvl8pPr marL="0" marR="0" indent="3200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8pPr>
      <a:lvl9pPr marL="0" marR="0" indent="3657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9pPr>
    </p:titleStyle>
    <p:bodyStyle>
      <a:lvl1pPr marL="457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1pPr>
      <a:lvl2pPr marL="914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2pPr>
      <a:lvl3pPr marL="1371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3pPr>
      <a:lvl4pPr marL="1828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4pPr>
      <a:lvl5pPr marL="22860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5pPr>
      <a:lvl6pPr marL="2743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6pPr>
      <a:lvl7pPr marL="3200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7pPr>
      <a:lvl8pPr marL="3657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8pPr>
      <a:lvl9pPr marL="4114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9pPr>
    </p:bodyStyle>
    <p:otherStyle>
      <a:lvl1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Subtitle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ICT – Fall 2025/26</a:t>
            </a:r>
          </a:p>
        </p:txBody>
      </p:sp>
      <p:sp>
        <p:nvSpPr>
          <p:cNvPr id="173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Week 10: Functions and Modules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6" name="Content Placeholder 2"/>
          <p:cNvSpPr txBox="1"/>
          <p:nvPr>
            <p:ph type="subTitle" sz="half" idx="1"/>
          </p:nvPr>
        </p:nvSpPr>
        <p:spPr>
          <a:xfrm>
            <a:off x="1206499" y="7353299"/>
            <a:ext cx="21971001" cy="4055374"/>
          </a:xfrm>
          <a:prstGeom prst="rect">
            <a:avLst/>
          </a:prstGeom>
        </p:spPr>
        <p:txBody>
          <a:bodyPr/>
          <a:lstStyle/>
          <a:p>
            <a:pPr defTabSz="586104">
              <a:defRPr sz="3905"/>
            </a:pPr>
            <a:r>
              <a:t>By the end of this lecture, you will be able to:</a:t>
            </a:r>
          </a:p>
          <a:p>
            <a:pPr defTabSz="586104">
              <a:defRPr sz="3905"/>
            </a:pPr>
          </a:p>
          <a:p>
            <a:pPr defTabSz="586104">
              <a:defRPr sz="3905"/>
            </a:pPr>
            <a:r>
              <a:t>• Define and call functions</a:t>
            </a:r>
          </a:p>
          <a:p>
            <a:pPr defTabSz="586104">
              <a:defRPr sz="3905"/>
            </a:pPr>
            <a:r>
              <a:t>• Create and reuse your own modules</a:t>
            </a:r>
          </a:p>
          <a:p>
            <a:pPr defTabSz="586104">
              <a:defRPr sz="3905"/>
            </a:pPr>
            <a:r>
              <a:t>• Import and use existing modules</a:t>
            </a:r>
          </a:p>
          <a:p>
            <a:pPr defTabSz="586104">
              <a:defRPr sz="3905"/>
            </a:pPr>
            <a:r>
              <a:t>• Create and manipulate dictionaries</a:t>
            </a:r>
          </a:p>
        </p:txBody>
      </p:sp>
      <p:sp>
        <p:nvSpPr>
          <p:cNvPr id="177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Learning Objectives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0" name="Grateful to the valuable feedback.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628650" indent="-628650">
              <a:buSzPct val="100000"/>
              <a:buChar char="•"/>
            </a:pPr>
            <a:r>
              <a:t>Grateful to the valuable feedback.</a:t>
            </a:r>
          </a:p>
          <a:p>
            <a:pPr marL="628650" indent="-628650">
              <a:buSzPct val="100000"/>
              <a:buChar char="•"/>
            </a:pPr>
            <a:r>
              <a:t>Some feedbacks were the reason behind making these slides.</a:t>
            </a:r>
          </a:p>
        </p:txBody>
      </p:sp>
      <p:sp>
        <p:nvSpPr>
          <p:cNvPr id="181" name="Special Note of Thanks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Special Note of Thanks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4" name="Today: Functions/modules and dictionaries…"/>
          <p:cNvSpPr txBox="1"/>
          <p:nvPr>
            <p:ph type="subTitle" sz="half" idx="1"/>
          </p:nvPr>
        </p:nvSpPr>
        <p:spPr>
          <a:xfrm>
            <a:off x="1206499" y="7353299"/>
            <a:ext cx="21971001" cy="4226419"/>
          </a:xfrm>
          <a:prstGeom prst="rect">
            <a:avLst/>
          </a:prstGeom>
        </p:spPr>
        <p:txBody>
          <a:bodyPr/>
          <a:lstStyle/>
          <a:p>
            <a:pPr marL="433768" indent="-433768" defTabSz="569594">
              <a:buSzPct val="100000"/>
              <a:buChar char="•"/>
              <a:defRPr sz="3795"/>
            </a:pPr>
            <a:r>
              <a:rPr>
                <a:latin typeface="Produkt Regular"/>
                <a:ea typeface="Produkt Regular"/>
                <a:cs typeface="Produkt Regular"/>
                <a:sym typeface="Produkt Regular"/>
              </a:rPr>
              <a:t>Today</a:t>
            </a:r>
            <a:r>
              <a:t>: Functions/modules and dictionaries</a:t>
            </a:r>
          </a:p>
          <a:p>
            <a:pPr marL="433768" indent="-433768" defTabSz="569594">
              <a:buSzPct val="100000"/>
              <a:buChar char="•"/>
              <a:defRPr i="1" sz="3795"/>
            </a:pPr>
            <a:r>
              <a:t>27th Nov: From basic data structures to actual data</a:t>
            </a:r>
          </a:p>
          <a:p>
            <a:pPr marL="433768" indent="-433768" defTabSz="569594">
              <a:buSzPct val="100000"/>
              <a:buChar char="•"/>
              <a:defRPr i="1" sz="3795"/>
            </a:pPr>
            <a:r>
              <a:t>04th Dec: Data Organization &amp; Functional Programming</a:t>
            </a:r>
          </a:p>
          <a:p>
            <a:pPr marL="433768" indent="-433768" defTabSz="569594">
              <a:buSzPct val="100000"/>
              <a:buChar char="•"/>
              <a:defRPr i="1" sz="3795"/>
            </a:pPr>
            <a:r>
              <a:t>11th Dec: OOP in Python+GitHub</a:t>
            </a:r>
          </a:p>
          <a:p>
            <a:pPr marL="433768" indent="-433768" defTabSz="569594">
              <a:buSzPct val="100000"/>
              <a:buChar char="•"/>
              <a:defRPr sz="3795"/>
            </a:pPr>
            <a:r>
              <a:rPr i="1"/>
              <a:t>18th Dec: DBs Overview (more theory; less practice)</a:t>
            </a:r>
            <a:br>
              <a:rPr i="1"/>
            </a:br>
            <a:br/>
            <a:r>
              <a:rPr sz="2346">
                <a:latin typeface="Apple SD 산돌고딕 Neo 얇은체"/>
                <a:ea typeface="Apple SD 산돌고딕 Neo 얇은체"/>
                <a:cs typeface="Apple SD 산돌고딕 Neo 얇은체"/>
                <a:sym typeface="Apple SD 산돌고딕 Neo 얇은체"/>
              </a:rPr>
              <a:t>* Note: 25th Dec is a public holiday, so I need a make-up lab (in fact, we need 2 as we missed the very first one)</a:t>
            </a:r>
          </a:p>
        </p:txBody>
      </p:sp>
      <p:sp>
        <p:nvSpPr>
          <p:cNvPr id="185" name="Schedul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Schedule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8" name="Python warm-up/recap…"/>
          <p:cNvSpPr txBox="1"/>
          <p:nvPr>
            <p:ph type="subTitle" sz="half" idx="1"/>
          </p:nvPr>
        </p:nvSpPr>
        <p:spPr>
          <a:xfrm>
            <a:off x="1206500" y="7353300"/>
            <a:ext cx="21971000" cy="4226418"/>
          </a:xfrm>
          <a:prstGeom prst="rect">
            <a:avLst/>
          </a:prstGeom>
        </p:spPr>
        <p:txBody>
          <a:bodyPr/>
          <a:lstStyle/>
          <a:p>
            <a:pPr marL="565784" indent="-565784" defTabSz="742950">
              <a:buSzPct val="100000"/>
              <a:buChar char="•"/>
              <a:defRPr sz="4950"/>
            </a:pPr>
            <a:r>
              <a:t>Python warm-up/recap</a:t>
            </a:r>
          </a:p>
          <a:p>
            <a:pPr marL="565784" indent="-565784" defTabSz="742950">
              <a:buSzPct val="100000"/>
              <a:buChar char="•"/>
              <a:defRPr sz="4950"/>
            </a:pPr>
            <a:r>
              <a:t>Functions</a:t>
            </a:r>
          </a:p>
          <a:p>
            <a:pPr marL="565784" indent="-565784" defTabSz="742950">
              <a:buSzPct val="100000"/>
              <a:buChar char="•"/>
              <a:defRPr sz="4950"/>
            </a:pPr>
            <a:r>
              <a:t>Modules</a:t>
            </a:r>
          </a:p>
          <a:p>
            <a:pPr marL="565784" indent="-565784" defTabSz="742950">
              <a:buSzPct val="100000"/>
              <a:buChar char="•"/>
              <a:defRPr sz="4950"/>
            </a:pPr>
            <a:r>
              <a:t>Dictionaries</a:t>
            </a:r>
          </a:p>
          <a:p>
            <a:pPr marL="565784" indent="-565784" defTabSz="742950">
              <a:buSzPct val="100000"/>
              <a:buChar char="•"/>
              <a:defRPr sz="4950"/>
            </a:pPr>
            <a:r>
              <a:t>Summary</a:t>
            </a:r>
          </a:p>
        </p:txBody>
      </p:sp>
      <p:sp>
        <p:nvSpPr>
          <p:cNvPr id="189" name="Agenda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2" name="Content Placeholder 2"/>
          <p:cNvSpPr txBox="1"/>
          <p:nvPr>
            <p:ph type="subTitle" sz="half" idx="1"/>
          </p:nvPr>
        </p:nvSpPr>
        <p:spPr>
          <a:xfrm>
            <a:off x="1570361" y="7353299"/>
            <a:ext cx="21607139" cy="4541989"/>
          </a:xfrm>
          <a:prstGeom prst="rect">
            <a:avLst/>
          </a:prstGeom>
        </p:spPr>
        <p:txBody>
          <a:bodyPr/>
          <a:lstStyle/>
          <a:p>
            <a:pPr defTabSz="792479">
              <a:defRPr sz="5280"/>
            </a:pPr>
            <a:r>
              <a:t>Quick quiz:</a:t>
            </a:r>
          </a:p>
          <a:p>
            <a:pPr defTabSz="792479">
              <a:defRPr sz="5280"/>
            </a:pPr>
            <a:r>
              <a:t>1. Difference between list and tuple?</a:t>
            </a:r>
          </a:p>
          <a:p>
            <a:pPr defTabSz="792479">
              <a:defRPr sz="5280"/>
            </a:pPr>
            <a:r>
              <a:t>2. Print even numbers from 1–10.</a:t>
            </a:r>
          </a:p>
          <a:p>
            <a:pPr defTabSz="792479">
              <a:defRPr sz="5280"/>
            </a:pPr>
            <a:r>
              <a:t>3. Check if a number is divisible by 3.</a:t>
            </a:r>
          </a:p>
          <a:p>
            <a:pPr defTabSz="792479">
              <a:defRPr sz="5280"/>
            </a:pPr>
            <a:r>
              <a:t>Goal: Get back into logic mindset.</a:t>
            </a:r>
          </a:p>
        </p:txBody>
      </p:sp>
      <p:sp>
        <p:nvSpPr>
          <p:cNvPr id="193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Warm-Up &amp; Recap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6" name="Content Placeholder 2"/>
          <p:cNvSpPr txBox="1"/>
          <p:nvPr>
            <p:ph type="subTitle" sz="half" idx="1"/>
          </p:nvPr>
        </p:nvSpPr>
        <p:spPr>
          <a:xfrm>
            <a:off x="1206499" y="7353299"/>
            <a:ext cx="21971001" cy="5318522"/>
          </a:xfrm>
          <a:prstGeom prst="rect">
            <a:avLst/>
          </a:prstGeom>
        </p:spPr>
        <p:txBody>
          <a:bodyPr/>
          <a:lstStyle/>
          <a:p>
            <a:pPr marL="584644" indent="-584644" defTabSz="767715">
              <a:buSzPct val="100000"/>
              <a:buChar char="•"/>
              <a:defRPr sz="5115"/>
            </a:pPr>
            <a:r>
              <a:t>Often, there’s a code we have to reuse. We can use functions there.</a:t>
            </a:r>
          </a:p>
          <a:p>
            <a:pPr marL="584644" indent="-584644" defTabSz="767715">
              <a:buSzPct val="100000"/>
              <a:buChar char="•"/>
              <a:defRPr sz="5115"/>
            </a:pPr>
            <a:r>
              <a:t>Functions aren’t something alien. We have already seen them in Excel.</a:t>
            </a:r>
          </a:p>
          <a:p>
            <a:pPr marL="584644" indent="-584644" defTabSz="767715">
              <a:buSzPct val="100000"/>
              <a:buChar char="•"/>
              <a:defRPr sz="5115"/>
            </a:pPr>
            <a:r>
              <a:t>To define a function, we use the keyword </a:t>
            </a:r>
            <a:r>
              <a:rPr>
                <a:latin typeface="PT Sans"/>
                <a:ea typeface="PT Sans"/>
                <a:cs typeface="PT Sans"/>
                <a:sym typeface="PT Sans"/>
              </a:rPr>
              <a:t>def</a:t>
            </a:r>
            <a:r>
              <a:t> followed by the function’s name.</a:t>
            </a:r>
          </a:p>
          <a:p>
            <a:pPr defTabSz="767715">
              <a:defRPr sz="5115"/>
            </a:pPr>
          </a:p>
        </p:txBody>
      </p:sp>
      <p:sp>
        <p:nvSpPr>
          <p:cNvPr id="197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Functions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0" name="Content Placeholder 2"/>
          <p:cNvSpPr txBox="1"/>
          <p:nvPr>
            <p:ph type="subTitle" sz="half" idx="1"/>
          </p:nvPr>
        </p:nvSpPr>
        <p:spPr>
          <a:xfrm>
            <a:off x="1460577" y="7353299"/>
            <a:ext cx="21716923" cy="4498446"/>
          </a:xfrm>
          <a:prstGeom prst="rect">
            <a:avLst/>
          </a:prstGeom>
        </p:spPr>
        <p:txBody>
          <a:bodyPr/>
          <a:lstStyle/>
          <a:p>
            <a:pPr marL="370903" indent="-370903" defTabSz="487044">
              <a:buSzPct val="100000"/>
              <a:buChar char="•"/>
              <a:defRPr sz="3244"/>
            </a:pPr>
            <a:r>
              <a:t>As the code grows, inevitably it needs to be organised.</a:t>
            </a:r>
          </a:p>
          <a:p>
            <a:pPr marL="370903" indent="-370903" defTabSz="487044">
              <a:buSzPct val="100000"/>
              <a:buChar char="•"/>
              <a:defRPr sz="3244"/>
            </a:pPr>
            <a:r>
              <a:t>Just like your files, code can also be organised among folders.</a:t>
            </a:r>
          </a:p>
          <a:p>
            <a:pPr marL="370903" indent="-370903" defTabSz="487044">
              <a:buSzPct val="100000"/>
              <a:buChar char="•"/>
              <a:defRPr sz="3244"/>
            </a:pPr>
            <a:r>
              <a:t>Modules can be simply called as:</a:t>
            </a:r>
            <a:br/>
            <a:r>
              <a:rPr>
                <a:latin typeface="PT Sans"/>
                <a:ea typeface="PT Sans"/>
                <a:cs typeface="PT Sans"/>
                <a:sym typeface="PT Sans"/>
              </a:rPr>
              <a:t>import Module</a:t>
            </a:r>
            <a:br>
              <a:rPr>
                <a:latin typeface="PT Sans"/>
                <a:ea typeface="PT Sans"/>
                <a:cs typeface="PT Sans"/>
                <a:sym typeface="PT Sans"/>
              </a:rPr>
            </a:br>
            <a:endParaRPr>
              <a:latin typeface="PT Sans"/>
              <a:ea typeface="PT Sans"/>
              <a:cs typeface="PT Sans"/>
              <a:sym typeface="PT Sans"/>
            </a:endParaRPr>
          </a:p>
          <a:p>
            <a:pPr marL="370903" indent="-370903" defTabSz="487044">
              <a:buSzPct val="100000"/>
              <a:buChar char="•"/>
              <a:defRPr sz="3244"/>
            </a:pPr>
            <a:r>
              <a:t>We can call any function from the (referred) module: </a:t>
            </a:r>
            <a:r>
              <a:rPr>
                <a:latin typeface="PT Sans"/>
                <a:ea typeface="PT Sans"/>
                <a:cs typeface="PT Sans"/>
                <a:sym typeface="PT Sans"/>
              </a:rPr>
              <a:t>Module.function()</a:t>
            </a:r>
            <a:br/>
          </a:p>
          <a:p>
            <a:pPr marL="370903" indent="-370903" defTabSz="487044">
              <a:buSzPct val="100000"/>
              <a:buChar char="•"/>
              <a:defRPr sz="3244"/>
            </a:pPr>
            <a:r>
              <a:rPr>
                <a:latin typeface="Produkt Regular"/>
                <a:ea typeface="Produkt Regular"/>
                <a:cs typeface="Produkt Regular"/>
                <a:sym typeface="Produkt Regular"/>
              </a:rPr>
              <a:t>Benefits</a:t>
            </a:r>
            <a:r>
              <a:t>: Cleaner code, easy to maintain</a:t>
            </a:r>
          </a:p>
        </p:txBody>
      </p:sp>
      <p:sp>
        <p:nvSpPr>
          <p:cNvPr id="201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Creating Your Own Modules</a:t>
            </a:r>
          </a:p>
        </p:txBody>
      </p:sp>
      <p:pic>
        <p:nvPicPr>
          <p:cNvPr id="202" name="Screenshot 2025-11-12 at 11.13.51 AM.png" descr="Screenshot 2025-11-12 at 11.13.51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705479" y="7442575"/>
            <a:ext cx="4995729" cy="4648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5" name="Content Placeholder 2"/>
          <p:cNvSpPr txBox="1"/>
          <p:nvPr>
            <p:ph type="subTitle" sz="half" idx="1"/>
          </p:nvPr>
        </p:nvSpPr>
        <p:spPr>
          <a:xfrm>
            <a:off x="1439095" y="7353299"/>
            <a:ext cx="21738405" cy="5095018"/>
          </a:xfrm>
          <a:prstGeom prst="rect">
            <a:avLst/>
          </a:prstGeom>
        </p:spPr>
        <p:txBody>
          <a:bodyPr/>
          <a:lstStyle/>
          <a:p>
            <a:pPr marL="509206" indent="-509206" defTabSz="668655">
              <a:buSzPct val="100000"/>
              <a:buChar char="•"/>
              <a:defRPr sz="4455"/>
            </a:pPr>
            <a:r>
              <a:t>Python comes with many built-in modules. </a:t>
            </a:r>
          </a:p>
          <a:p>
            <a:pPr marL="509206" indent="-509206" defTabSz="668655">
              <a:buSzPct val="100000"/>
              <a:buChar char="•"/>
              <a:defRPr sz="4455"/>
            </a:pPr>
            <a:r>
              <a:t>We have already used math somewhere before.</a:t>
            </a:r>
          </a:p>
          <a:p>
            <a:pPr lvl="1" indent="370331" defTabSz="668655">
              <a:defRPr sz="4455">
                <a:latin typeface="PT Sans"/>
                <a:ea typeface="PT Sans"/>
                <a:cs typeface="PT Sans"/>
                <a:sym typeface="PT Sans"/>
              </a:defRPr>
            </a:pPr>
            <a:r>
              <a:t>import math</a:t>
            </a:r>
          </a:p>
          <a:p>
            <a:pPr lvl="1" indent="370331" defTabSz="668655">
              <a:defRPr sz="4455">
                <a:latin typeface="PT Sans"/>
                <a:ea typeface="PT Sans"/>
                <a:cs typeface="PT Sans"/>
                <a:sym typeface="PT Sans"/>
              </a:defRPr>
            </a:pPr>
            <a:r>
              <a:t>print(math.sqrt(16))</a:t>
            </a:r>
          </a:p>
          <a:p>
            <a:pPr defTabSz="668655">
              <a:defRPr sz="4455"/>
            </a:pPr>
          </a:p>
          <a:p>
            <a:pPr marL="509206" indent="-509206" defTabSz="668655">
              <a:buSzPct val="100000"/>
              <a:buChar char="•"/>
              <a:defRPr sz="4455"/>
            </a:pPr>
            <a:r>
              <a:t>There are many other modules and we will cover some of them in the next week.</a:t>
            </a:r>
          </a:p>
        </p:txBody>
      </p:sp>
      <p:sp>
        <p:nvSpPr>
          <p:cNvPr id="206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Importing Existing Modules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9" name="Content Placeholder 2"/>
          <p:cNvSpPr txBox="1"/>
          <p:nvPr>
            <p:ph type="subTitle" sz="half" idx="1"/>
          </p:nvPr>
        </p:nvSpPr>
        <p:spPr>
          <a:xfrm>
            <a:off x="1206499" y="7353299"/>
            <a:ext cx="21971001" cy="5570056"/>
          </a:xfrm>
          <a:prstGeom prst="rect">
            <a:avLst/>
          </a:prstGeom>
        </p:spPr>
        <p:txBody>
          <a:bodyPr/>
          <a:lstStyle/>
          <a:p>
            <a:pPr marL="628650" indent="-628650">
              <a:buSzPct val="100000"/>
              <a:buChar char="•"/>
            </a:pPr>
            <a:r>
              <a:t>Dictionary = key-value pairs</a:t>
            </a:r>
          </a:p>
          <a:p>
            <a:pPr marL="628650" indent="-628650">
              <a:buSzPct val="100000"/>
              <a:buChar char="•"/>
            </a:pPr>
            <a:r>
              <a:t>Remember the airports and distance thing we done in the start?</a:t>
            </a:r>
          </a:p>
          <a:p>
            <a:pPr marL="628650" indent="-628650">
              <a:buSzPct val="100000"/>
              <a:buChar char="•"/>
            </a:pPr>
            <a:r>
              <a:t>Dictionaries implement it perfectly having key (airport code) and values (coordinates tuple) aligned.</a:t>
            </a:r>
          </a:p>
        </p:txBody>
      </p:sp>
      <p:sp>
        <p:nvSpPr>
          <p:cNvPr id="210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Dictionaries in Python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3" name="Content Placeholder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586104">
              <a:defRPr sz="3905"/>
            </a:pPr>
            <a:r>
              <a:t>1. Create my_calculator.py with add, sub, mul, div functions.</a:t>
            </a:r>
          </a:p>
          <a:p>
            <a:pPr defTabSz="586104">
              <a:defRPr sz="3905"/>
            </a:pPr>
            <a:r>
              <a:t>2. Import it into main.py and take user input.</a:t>
            </a:r>
          </a:p>
          <a:p>
            <a:pPr defTabSz="586104">
              <a:defRPr sz="3905"/>
            </a:pPr>
            <a:r>
              <a:t>3. Dice game: roll 2 dice until doubles (use random).</a:t>
            </a:r>
          </a:p>
        </p:txBody>
      </p:sp>
      <p:sp>
        <p:nvSpPr>
          <p:cNvPr id="214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Homework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6_DynamicWavesLight">
  <a:themeElements>
    <a:clrScheme name="36_DynamicWavesLight">
      <a:dk1>
        <a:srgbClr val="53585F"/>
      </a:dk1>
      <a:lt1>
        <a:srgbClr val="5F3E0C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6_DynamicWaves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6_DynamicWaves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6_DynamicWavesLight">
  <a:themeElements>
    <a:clrScheme name="36_DynamicWavesLight">
      <a:dk1>
        <a:srgbClr val="000000"/>
      </a:dk1>
      <a:lt1>
        <a:srgbClr val="FFFFFF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6_DynamicWaves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6_DynamicWaves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